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3" r:id="rId3"/>
    <p:sldId id="265" r:id="rId4"/>
    <p:sldId id="281" r:id="rId5"/>
    <p:sldId id="282" r:id="rId6"/>
    <p:sldId id="267" r:id="rId7"/>
    <p:sldId id="268" r:id="rId8"/>
    <p:sldId id="269" r:id="rId9"/>
    <p:sldId id="270" r:id="rId10"/>
    <p:sldId id="271" r:id="rId11"/>
    <p:sldId id="272" r:id="rId12"/>
    <p:sldId id="274" r:id="rId13"/>
    <p:sldId id="258" r:id="rId14"/>
    <p:sldId id="277" r:id="rId15"/>
    <p:sldId id="276" r:id="rId16"/>
    <p:sldId id="280" r:id="rId17"/>
    <p:sldId id="263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946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66750" y="588644"/>
            <a:ext cx="821690" cy="5410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161A3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161A3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161A3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161A3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04717" y="6123420"/>
            <a:ext cx="1998567" cy="53570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750" y="588644"/>
            <a:ext cx="1380489" cy="5410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161A3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66750" y="6215246"/>
            <a:ext cx="7212965" cy="3625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9450" y="6227946"/>
            <a:ext cx="7187565" cy="33718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ts val="1280"/>
              </a:lnSpc>
              <a:spcBef>
                <a:spcPts val="50"/>
              </a:spcBef>
            </a:pPr>
            <a:r>
              <a:rPr sz="1100" b="1" spc="-10" dirty="0">
                <a:solidFill>
                  <a:srgbClr val="AEABAB"/>
                </a:solidFill>
                <a:latin typeface="Calibri"/>
                <a:cs typeface="Calibri"/>
              </a:rPr>
              <a:t>CONFIDENTIAL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: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The</a:t>
            </a:r>
            <a:r>
              <a:rPr sz="1100" spc="3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information</a:t>
            </a:r>
            <a:r>
              <a:rPr sz="1100" spc="-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in this</a:t>
            </a:r>
            <a:r>
              <a:rPr sz="1100" spc="-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document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 belongs</a:t>
            </a:r>
            <a:r>
              <a:rPr sz="1100" spc="-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to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Boston Institute</a:t>
            </a:r>
            <a:r>
              <a:rPr sz="1100" spc="-5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of</a:t>
            </a:r>
            <a:r>
              <a:rPr sz="1100" spc="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Analytics</a:t>
            </a:r>
            <a:r>
              <a:rPr sz="1100" spc="-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LLC.</a:t>
            </a:r>
            <a:r>
              <a:rPr sz="1100" spc="1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Any 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unauthorized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 sharing</a:t>
            </a:r>
            <a:r>
              <a:rPr sz="1100" spc="-1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of</a:t>
            </a:r>
            <a:r>
              <a:rPr sz="1100" spc="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AEABAB"/>
                </a:solidFill>
                <a:latin typeface="Calibri"/>
                <a:cs typeface="Calibri"/>
              </a:rPr>
              <a:t>this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material</a:t>
            </a:r>
            <a:r>
              <a:rPr sz="1100" spc="1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is</a:t>
            </a:r>
            <a:r>
              <a:rPr sz="11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prohibited</a:t>
            </a:r>
            <a:r>
              <a:rPr sz="11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and</a:t>
            </a:r>
            <a:r>
              <a:rPr sz="1100" spc="-2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subject</a:t>
            </a:r>
            <a:r>
              <a:rPr sz="1100" spc="-3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to</a:t>
            </a:r>
            <a:r>
              <a:rPr sz="11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legal</a:t>
            </a:r>
            <a:r>
              <a:rPr sz="1100" spc="1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action</a:t>
            </a:r>
            <a:r>
              <a:rPr sz="11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under</a:t>
            </a:r>
            <a:r>
              <a:rPr sz="1100" spc="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breach</a:t>
            </a:r>
            <a:r>
              <a:rPr sz="1100" spc="-2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of IP</a:t>
            </a:r>
            <a:r>
              <a:rPr sz="1100" spc="-1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and</a:t>
            </a:r>
            <a:r>
              <a:rPr sz="1100" spc="-2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confidentiality</a:t>
            </a:r>
            <a:r>
              <a:rPr sz="1100" spc="-1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clauses.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731648" y="0"/>
            <a:ext cx="12923648" cy="6858000"/>
            <a:chOff x="0" y="0"/>
            <a:chExt cx="12192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19550" y="914400"/>
              <a:ext cx="5153025" cy="141922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0" y="2133601"/>
            <a:ext cx="10896600" cy="315599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400" dirty="0" smtClean="0">
                <a:solidFill>
                  <a:srgbClr val="FFFFFF"/>
                </a:solidFill>
              </a:rPr>
              <a:t> </a:t>
            </a:r>
            <a:r>
              <a:rPr sz="400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sz="4000" spc="-95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4000" spc="-8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Capstone</a:t>
            </a:r>
            <a:r>
              <a:rPr sz="4000" spc="-9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US" sz="4000" spc="-1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:-</a:t>
            </a:r>
            <a:br>
              <a:rPr lang="en-US" sz="4000" spc="-1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-1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RETENTION PREDICTION</a:t>
            </a:r>
            <a:r>
              <a:rPr lang="en-US" sz="40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0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spc="-1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NAME :- ANKIT AGRAWAL</a:t>
            </a:r>
            <a:r>
              <a:rPr lang="en-US" sz="4400" spc="-10" dirty="0" smtClean="0">
                <a:solidFill>
                  <a:srgbClr val="FFFFFF"/>
                </a:solidFill>
              </a:rPr>
              <a:t/>
            </a:r>
            <a:br>
              <a:rPr lang="en-US" sz="4400" spc="-10" dirty="0" smtClean="0">
                <a:solidFill>
                  <a:srgbClr val="FFFFFF"/>
                </a:solidFill>
              </a:rPr>
            </a:b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Batch: DSAI-1 September 2024</a:t>
            </a:r>
            <a:b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95800" y="152400"/>
            <a:ext cx="1219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 smtClean="0"/>
              <a:t>Agenda</a:t>
            </a:r>
            <a:endParaRPr lang="en-IN" sz="2000" b="1" dirty="0"/>
          </a:p>
        </p:txBody>
      </p:sp>
      <p:sp>
        <p:nvSpPr>
          <p:cNvPr id="3" name="Rectangle 2"/>
          <p:cNvSpPr/>
          <p:nvPr/>
        </p:nvSpPr>
        <p:spPr>
          <a:xfrm>
            <a:off x="2993283" y="548789"/>
            <a:ext cx="42242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Workflow of Employee Retention Model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365110"/>
              </p:ext>
            </p:extLst>
          </p:nvPr>
        </p:nvGraphicFramePr>
        <p:xfrm>
          <a:off x="381000" y="891191"/>
          <a:ext cx="9144000" cy="596680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3679826238"/>
                    </a:ext>
                  </a:extLst>
                </a:gridCol>
                <a:gridCol w="6477000">
                  <a:extLst>
                    <a:ext uri="{9D8B030D-6E8A-4147-A177-3AD203B41FA5}">
                      <a16:colId xmlns:a16="http://schemas.microsoft.com/office/drawing/2014/main" val="2984709959"/>
                    </a:ext>
                  </a:extLst>
                </a:gridCol>
              </a:tblGrid>
              <a:tr h="3762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Step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79" marR="9179" marT="9179" marB="917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79" marR="9179" marT="9179" marB="9179" anchor="ctr"/>
                </a:tc>
                <a:extLst>
                  <a:ext uri="{0D108BD9-81ED-4DB2-BD59-A6C34878D82A}">
                    <a16:rowId xmlns:a16="http://schemas.microsoft.com/office/drawing/2014/main" val="2834400352"/>
                  </a:ext>
                </a:extLst>
              </a:tr>
              <a:tr h="54167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1️⃣   Import Required Libraries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79" marR="9179" marT="9179" marB="917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Import essential libraries: Pandas, </a:t>
                      </a:r>
                      <a:r>
                        <a:rPr lang="en-IN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NumPy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Matplotlib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Seaborn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Scikit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-learn, </a:t>
                      </a:r>
                      <a:r>
                        <a:rPr lang="en-IN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LightGBM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Use SMOTE for handling imbalanced data.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79" marR="9179" marT="9179" marB="9179" anchor="ctr"/>
                </a:tc>
                <a:extLst>
                  <a:ext uri="{0D108BD9-81ED-4DB2-BD59-A6C34878D82A}">
                    <a16:rowId xmlns:a16="http://schemas.microsoft.com/office/drawing/2014/main" val="2889877794"/>
                  </a:ext>
                </a:extLst>
              </a:tr>
              <a:tr h="52966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2️⃣   Load Data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79" marR="9179" marT="9179" marB="917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 training and testing datasets (aug_train.csv, aug_test.csv). Display initial data using .head().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79" marR="9179" marT="9179" marB="9179" anchor="ctr"/>
                </a:tc>
                <a:extLst>
                  <a:ext uri="{0D108BD9-81ED-4DB2-BD59-A6C34878D82A}">
                    <a16:rowId xmlns:a16="http://schemas.microsoft.com/office/drawing/2014/main" val="1131076952"/>
                  </a:ext>
                </a:extLst>
              </a:tr>
              <a:tr h="62982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3️⃣   Data </a:t>
                      </a:r>
                      <a:r>
                        <a:rPr lang="en-IN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Preprocessing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79" marR="9179" marT="9179" marB="917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Handle missing values with </a:t>
                      </a:r>
                      <a:r>
                        <a:rPr lang="en-IN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SimpleImputer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encode categorical variables using </a:t>
                      </a:r>
                      <a:r>
                        <a:rPr lang="en-IN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LabelEncoder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and normalize numerical features using </a:t>
                      </a:r>
                      <a:r>
                        <a:rPr lang="en-IN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StandardScaler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79" marR="9179" marT="9179" marB="9179" anchor="ctr"/>
                </a:tc>
                <a:extLst>
                  <a:ext uri="{0D108BD9-81ED-4DB2-BD59-A6C34878D82A}">
                    <a16:rowId xmlns:a16="http://schemas.microsoft.com/office/drawing/2014/main" val="2994921439"/>
                  </a:ext>
                </a:extLst>
              </a:tr>
              <a:tr h="52966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4️⃣   Exploratory Data Analysis (EDA)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79" marR="9179" marT="9179" marB="917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</a:t>
                      </a:r>
                      <a:r>
                        <a:rPr lang="en-IN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Matplotlib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 </a:t>
                      </a:r>
                      <a:r>
                        <a:rPr lang="en-IN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Seaborn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visualizations. Identify feature distributions and correlations with the target variable.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79" marR="9179" marT="9179" marB="9179" anchor="ctr"/>
                </a:tc>
                <a:extLst>
                  <a:ext uri="{0D108BD9-81ED-4DB2-BD59-A6C34878D82A}">
                    <a16:rowId xmlns:a16="http://schemas.microsoft.com/office/drawing/2014/main" val="378298178"/>
                  </a:ext>
                </a:extLst>
              </a:tr>
              <a:tr h="52966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5️⃣    Feature Engineering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79" marR="9179" marT="9179" marB="917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 new meaningful features from existing data to enhance model performance.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79" marR="9179" marT="9179" marB="9179" anchor="ctr"/>
                </a:tc>
                <a:extLst>
                  <a:ext uri="{0D108BD9-81ED-4DB2-BD59-A6C34878D82A}">
                    <a16:rowId xmlns:a16="http://schemas.microsoft.com/office/drawing/2014/main" val="708019026"/>
                  </a:ext>
                </a:extLst>
              </a:tr>
              <a:tr h="52966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6️⃣    Train-Test Split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79" marR="9179" marT="9179" marB="917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Split the dataset into training &amp; </a:t>
                      </a:r>
                      <a:r>
                        <a:rPr lang="en-IN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sets using </a:t>
                      </a:r>
                      <a:r>
                        <a:rPr lang="en-IN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train_test_split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 to evaluate model performance.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79" marR="9179" marT="9179" marB="9179" anchor="ctr"/>
                </a:tc>
                <a:extLst>
                  <a:ext uri="{0D108BD9-81ED-4DB2-BD59-A6C34878D82A}">
                    <a16:rowId xmlns:a16="http://schemas.microsoft.com/office/drawing/2014/main" val="112329234"/>
                  </a:ext>
                </a:extLst>
              </a:tr>
              <a:tr h="52966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7️⃣   Handling Imbalanced       Data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79" marR="9179" marT="9179" marB="917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Apply SMOTE (Synthetic Minority Over-sampling Technique) to balance the dataset and avoid model bias.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79" marR="9179" marT="9179" marB="9179" anchor="ctr"/>
                </a:tc>
                <a:extLst>
                  <a:ext uri="{0D108BD9-81ED-4DB2-BD59-A6C34878D82A}">
                    <a16:rowId xmlns:a16="http://schemas.microsoft.com/office/drawing/2014/main" val="2230410209"/>
                  </a:ext>
                </a:extLst>
              </a:tr>
              <a:tr h="78549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8️⃣    Model Training &amp;      </a:t>
                      </a:r>
                      <a:r>
                        <a:rPr lang="en-IN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Evaluation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79" marR="9179" marT="9179" marB="917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 Logistic Regression, Random Forest, </a:t>
                      </a:r>
                      <a:r>
                        <a:rPr lang="en-IN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LightGBM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Evaluate performance using Accuracy, ROC-AUC, Confusion Matrix</a:t>
                      </a:r>
                      <a:r>
                        <a:rPr lang="en-IN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And</a:t>
                      </a:r>
                      <a:r>
                        <a:rPr lang="en-IN" sz="1600" baseline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Classification Report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79" marR="9179" marT="9179" marB="9179" anchor="ctr"/>
                </a:tc>
                <a:extLst>
                  <a:ext uri="{0D108BD9-81ED-4DB2-BD59-A6C34878D82A}">
                    <a16:rowId xmlns:a16="http://schemas.microsoft.com/office/drawing/2014/main" val="2494805194"/>
                  </a:ext>
                </a:extLst>
              </a:tr>
              <a:tr h="37673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9️⃣    </a:t>
                      </a:r>
                      <a:r>
                        <a:rPr lang="en-IN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Hyperparameter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Tuning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79" marR="9179" marT="9179" marB="917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 model performance using </a:t>
                      </a:r>
                      <a:r>
                        <a:rPr lang="en-IN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RandomizedSearchCV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79" marR="9179" marT="9179" marB="9179" anchor="ctr"/>
                </a:tc>
                <a:extLst>
                  <a:ext uri="{0D108BD9-81ED-4DB2-BD59-A6C34878D82A}">
                    <a16:rowId xmlns:a16="http://schemas.microsoft.com/office/drawing/2014/main" val="3311146697"/>
                  </a:ext>
                </a:extLst>
              </a:tr>
              <a:tr h="52966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🔟  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Deployment Considerations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79" marR="9179" marT="9179" marB="917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Save the trained model using </a:t>
                      </a:r>
                      <a:r>
                        <a:rPr lang="en-IN" sz="1600" dirty="0" err="1">
                          <a:effectLst/>
                        </a:rPr>
                        <a:t>joblib</a:t>
                      </a:r>
                      <a:r>
                        <a:rPr lang="en-IN" sz="1600" dirty="0">
                          <a:effectLst/>
                        </a:rPr>
                        <a:t>  for deployment in applications like </a:t>
                      </a:r>
                      <a:r>
                        <a:rPr lang="en-IN" sz="1600" dirty="0" err="1">
                          <a:effectLst/>
                        </a:rPr>
                        <a:t>Streamlit</a:t>
                      </a:r>
                      <a:r>
                        <a:rPr lang="en-IN" sz="1600" dirty="0">
                          <a:effectLst/>
                        </a:rPr>
                        <a:t>.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79" marR="9179" marT="9179" marB="9179" anchor="ctr"/>
                </a:tc>
                <a:extLst>
                  <a:ext uri="{0D108BD9-81ED-4DB2-BD59-A6C34878D82A}">
                    <a16:rowId xmlns:a16="http://schemas.microsoft.com/office/drawing/2014/main" val="438118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9785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304800"/>
            <a:ext cx="12039600" cy="6278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– Employee Retention Analysis:-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Overview of Employee Retention Analysis:-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develop a machine learning model to predict whether data scientists are likely to seek job changes, aiding in talent retention and recruitment planning. 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help in optimizing retention strategies, proactive recruitment, and better resource allocation using a predictive model, comprehensive data visualizations, and a comparative analysis of various machine learning algorithms</a:t>
            </a:r>
            <a:r>
              <a:rPr lang="en-US" sz="1600" dirty="0" smtClean="0"/>
              <a:t>.</a:t>
            </a:r>
          </a:p>
          <a:p>
            <a:pPr algn="just"/>
            <a:endParaRPr lang="en-US" sz="1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Benefits: </a:t>
            </a:r>
          </a:p>
          <a:p>
            <a:pPr algn="just"/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Retention Optimization: The model will help identify factors influencing job change decisions, allowing for more targeted retention strategies.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Recruitment Planning: Accurate prediction of potential job seekers can assist in proactive recruitment efforts.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Allocation: Understanding job change patterns can guide resource allocation for training and development programs.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Overview:-</a:t>
            </a: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of the Dataset:- </a:t>
            </a: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consists of employee-related information used to predict whether an employee will change their job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 not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includes both numerical and categorical features related to education, experience, training, and company details.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divided into training (aug_train.csv) and testing (aug_test.csv) datasets.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Variable:-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target variable is target, which indicates whether an employee is likely to switch jobs (1) or stay in their current job (0).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Type: Binary Classification (0 = No Job Change, 1 = Job Change).</a:t>
            </a:r>
          </a:p>
        </p:txBody>
      </p:sp>
    </p:spTree>
    <p:extLst>
      <p:ext uri="{BB962C8B-B14F-4D97-AF65-F5344CB8AC3E}">
        <p14:creationId xmlns:p14="http://schemas.microsoft.com/office/powerpoint/2010/main" val="3728971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91440"/>
            <a:ext cx="11411958" cy="23164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85800" y="5638800"/>
            <a:ext cx="7924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Just Drop  two Columns ‘’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enrollee_id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’’, ‘’city’’ from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oth Datasets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07920"/>
            <a:ext cx="11506200" cy="3124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724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76200"/>
            <a:ext cx="5867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Statistics  Summary Visualization using   Bar Plot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320" y="609600"/>
            <a:ext cx="1135380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857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0411" y="248920"/>
            <a:ext cx="12192000" cy="64017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  <a:p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Handles missing values using </a:t>
            </a:r>
            <a:r>
              <a:rPr lang="en-IN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SimpleImputer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Checking &amp; Removing OUTLIERS using IQR.</a:t>
            </a:r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Encodes categorical variables using </a:t>
            </a:r>
            <a:r>
              <a:rPr lang="en-IN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LabelEncoder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Normalizes numerical features using </a:t>
            </a:r>
            <a:r>
              <a:rPr lang="en-IN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IN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(EDA):-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Visualizing the Company Size  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Univariate Analysis (Single Feature Distribution)</a:t>
            </a:r>
            <a:endParaRPr lang="en-US" sz="1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74320"/>
            <a:ext cx="4724400" cy="277528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260" y="3200400"/>
            <a:ext cx="10629900" cy="310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659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57200"/>
            <a:ext cx="116586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Bivariate Analysis (Relationship Between Two Variables</a:t>
            </a:r>
            <a:r>
              <a:rPr lang="en-US" dirty="0" smtClean="0"/>
              <a:t>)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295400"/>
            <a:ext cx="1089038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528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0"/>
            <a:ext cx="116586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Multivariate Analysis (Multiple Feature Relationships</a:t>
            </a:r>
            <a:r>
              <a:rPr lang="en-US" dirty="0" smtClean="0"/>
              <a:t>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Correlation </a:t>
            </a:r>
            <a:r>
              <a:rPr lang="en-US" dirty="0" err="1" smtClean="0"/>
              <a:t>Heatmap</a:t>
            </a:r>
            <a:endParaRPr lang="en-US" dirty="0" smtClean="0"/>
          </a:p>
          <a:p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604807"/>
            <a:ext cx="8610600" cy="553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182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350520"/>
            <a:ext cx="11811000" cy="6586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 smtClean="0"/>
              <a:t>Feature Engineering</a:t>
            </a:r>
            <a:r>
              <a:rPr lang="en-US" sz="1600" dirty="0" smtClean="0"/>
              <a:t>:-</a:t>
            </a:r>
          </a:p>
          <a:p>
            <a:endParaRPr lang="en-US" sz="1600" dirty="0"/>
          </a:p>
          <a:p>
            <a:r>
              <a:rPr lang="en-US" sz="1600" dirty="0" smtClean="0"/>
              <a:t>Creating new features to improve model performance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600" dirty="0"/>
              <a:t>Experience Bin </a:t>
            </a:r>
            <a:r>
              <a:rPr lang="en-IN" sz="1600" dirty="0" smtClean="0"/>
              <a:t>Distribution                                              </a:t>
            </a:r>
            <a:r>
              <a:rPr lang="en-IN" sz="1600" dirty="0"/>
              <a:t>Bar plot of '</a:t>
            </a:r>
            <a:r>
              <a:rPr lang="en-IN" sz="1600" dirty="0" err="1"/>
              <a:t>last_new_job</a:t>
            </a:r>
            <a:r>
              <a:rPr lang="en-IN" sz="1600" dirty="0" smtClean="0"/>
              <a:t>'</a:t>
            </a:r>
          </a:p>
          <a:p>
            <a:endParaRPr lang="en-IN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 smtClean="0"/>
              <a:t>Histogram for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years_since_last_job_change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58123"/>
            <a:ext cx="3581400" cy="32482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371600"/>
            <a:ext cx="5334000" cy="290774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800" y="4293938"/>
            <a:ext cx="4419600" cy="240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86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152400"/>
            <a:ext cx="11887200" cy="60324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 smtClean="0"/>
              <a:t>Handling Imbalanced Data </a:t>
            </a:r>
            <a:r>
              <a:rPr lang="en-IN" dirty="0" smtClean="0"/>
              <a:t>:-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 smtClean="0"/>
              <a:t>Why Do We Need to Balance the Dataset?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smtClean="0"/>
              <a:t>When working with employee retention prediction, the dataset is imbalanced, meaning there are more employees staying (0) than leaving (1).</a:t>
            </a:r>
          </a:p>
          <a:p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 Applying SMOTE (Synthetic Minority Over-sampling Technique)</a:t>
            </a:r>
          </a:p>
          <a:p>
            <a:r>
              <a:rPr lang="en-US" sz="1600" b="1" dirty="0" smtClean="0"/>
              <a:t>SMOTE artificially increases the number of minority class samples (employees leaving) by generating synthetic data points.</a:t>
            </a:r>
            <a:endParaRPr lang="en-US" sz="1600" dirty="0" smtClean="0"/>
          </a:p>
          <a:p>
            <a:endParaRPr lang="en-US" sz="1600" dirty="0" smtClean="0"/>
          </a:p>
          <a:p>
            <a:r>
              <a:rPr lang="en-US" sz="1600" dirty="0"/>
              <a:t>Before SMOTE: </a:t>
            </a:r>
            <a:r>
              <a:rPr lang="en-US" sz="1600" dirty="0" smtClean="0"/>
              <a:t>[10811 3621] </a:t>
            </a:r>
          </a:p>
          <a:p>
            <a:r>
              <a:rPr lang="en-US" sz="1600" dirty="0" smtClean="0"/>
              <a:t>After </a:t>
            </a:r>
            <a:r>
              <a:rPr lang="en-US" sz="1600" dirty="0"/>
              <a:t>SMOTE: </a:t>
            </a:r>
            <a:r>
              <a:rPr lang="en-US" sz="1600" dirty="0" smtClean="0"/>
              <a:t>[10811 10811]</a:t>
            </a:r>
            <a:endParaRPr lang="en-IN" sz="1600" dirty="0"/>
          </a:p>
          <a:p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 smtClean="0"/>
              <a:t>Train-Test Split :-</a:t>
            </a:r>
          </a:p>
          <a:p>
            <a:r>
              <a:rPr lang="en-IN" sz="1600" dirty="0" smtClean="0"/>
              <a:t>Splits the dataset into training and Test  sets using </a:t>
            </a:r>
            <a:r>
              <a:rPr lang="en-IN" sz="1600" dirty="0" err="1" smtClean="0"/>
              <a:t>train_test_split</a:t>
            </a:r>
            <a:r>
              <a:rPr lang="en-IN" sz="1600" dirty="0" smtClean="0"/>
              <a:t>().</a:t>
            </a:r>
          </a:p>
          <a:p>
            <a:endParaRPr lang="en-IN" sz="1600" dirty="0" smtClean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 smtClean="0"/>
              <a:t>Model Training &amp; Evaluation :-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Implement Logistic Regression, Random Forest, </a:t>
            </a:r>
          </a:p>
          <a:p>
            <a:r>
              <a:rPr lang="en-IN" dirty="0" err="1" smtClean="0"/>
              <a:t>XGBoost</a:t>
            </a:r>
            <a:r>
              <a:rPr lang="en-IN" dirty="0" smtClean="0"/>
              <a:t>, and </a:t>
            </a:r>
            <a:r>
              <a:rPr lang="en-IN" dirty="0" err="1" smtClean="0"/>
              <a:t>LightGBM</a:t>
            </a:r>
            <a:r>
              <a:rPr lang="en-IN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Uses evaluation metrics like Accuracy, ROC-AUC, Confusion Matrix and Classification Report.</a:t>
            </a:r>
          </a:p>
          <a:p>
            <a:endParaRPr lang="en-US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endParaRPr lang="en-IN" sz="1600" dirty="0" smtClean="0"/>
          </a:p>
          <a:p>
            <a:endParaRPr lang="en-US" sz="1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2286000"/>
            <a:ext cx="5177246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398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533400"/>
            <a:ext cx="1165860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 smtClean="0"/>
              <a:t>Model Selection Based on Performance</a:t>
            </a:r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 smtClean="0"/>
              <a:t>Best Model: </a:t>
            </a:r>
            <a:r>
              <a:rPr lang="en-US" sz="1600" b="1" dirty="0" err="1" smtClean="0"/>
              <a:t>LightGBM</a:t>
            </a:r>
            <a:r>
              <a:rPr lang="en-US" sz="1600" b="1" dirty="0" smtClean="0"/>
              <a:t> :- </a:t>
            </a:r>
          </a:p>
          <a:p>
            <a:endParaRPr lang="en-US" sz="1600" b="1" dirty="0" smtClean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b="1" dirty="0" smtClean="0"/>
              <a:t> Highest Accuracy (75. 69 %)</a:t>
            </a:r>
          </a:p>
          <a:p>
            <a:endParaRPr lang="en-US" sz="1600" b="1" dirty="0" smtClean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b="1" dirty="0"/>
              <a:t> </a:t>
            </a:r>
            <a:r>
              <a:rPr lang="en-US" sz="1600" b="1" dirty="0" smtClean="0"/>
              <a:t> Best ROC-AUC Score (76. 85 %)</a:t>
            </a:r>
          </a:p>
          <a:p>
            <a:endParaRPr lang="en-US" sz="16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smtClean="0"/>
              <a:t> Since </a:t>
            </a:r>
            <a:r>
              <a:rPr lang="en-US" sz="1600" b="1" dirty="0" err="1" smtClean="0"/>
              <a:t>LightGBM</a:t>
            </a:r>
            <a:r>
              <a:rPr lang="en-US" sz="1600" b="1" dirty="0" smtClean="0"/>
              <a:t> has the highest accuracy and ROC-AUC, it is the best model.</a:t>
            </a:r>
            <a:endParaRPr lang="en-US" sz="1600" b="1" dirty="0"/>
          </a:p>
          <a:p>
            <a:endParaRPr lang="en-US" sz="1600" b="1" dirty="0" smtClean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/>
          </a:p>
          <a:p>
            <a:endParaRPr lang="en-IN" b="1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0013602"/>
              </p:ext>
            </p:extLst>
          </p:nvPr>
        </p:nvGraphicFramePr>
        <p:xfrm>
          <a:off x="381000" y="914400"/>
          <a:ext cx="54102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9945">
                  <a:extLst>
                    <a:ext uri="{9D8B030D-6E8A-4147-A177-3AD203B41FA5}">
                      <a16:colId xmlns:a16="http://schemas.microsoft.com/office/drawing/2014/main" val="579029226"/>
                    </a:ext>
                  </a:extLst>
                </a:gridCol>
                <a:gridCol w="1959945">
                  <a:extLst>
                    <a:ext uri="{9D8B030D-6E8A-4147-A177-3AD203B41FA5}">
                      <a16:colId xmlns:a16="http://schemas.microsoft.com/office/drawing/2014/main" val="1856715441"/>
                    </a:ext>
                  </a:extLst>
                </a:gridCol>
                <a:gridCol w="1490310">
                  <a:extLst>
                    <a:ext uri="{9D8B030D-6E8A-4147-A177-3AD203B41FA5}">
                      <a16:colId xmlns:a16="http://schemas.microsoft.com/office/drawing/2014/main" val="3229080525"/>
                    </a:ext>
                  </a:extLst>
                </a:gridCol>
              </a:tblGrid>
              <a:tr h="337256">
                <a:tc>
                  <a:txBody>
                    <a:bodyPr/>
                    <a:lstStyle/>
                    <a:p>
                      <a:r>
                        <a:rPr lang="en-US" dirty="0" smtClean="0"/>
                        <a:t>MODEL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ACCURACY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ROC-AUC Score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38525"/>
                  </a:ext>
                </a:extLst>
              </a:tr>
              <a:tr h="337256">
                <a:tc>
                  <a:txBody>
                    <a:bodyPr/>
                    <a:lstStyle/>
                    <a:p>
                      <a:r>
                        <a:rPr lang="en-IN" dirty="0" smtClean="0"/>
                        <a:t>Logistic Regression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71.51</a:t>
                      </a:r>
                      <a:r>
                        <a:rPr lang="en-US" b="0" i="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73.49 %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0081009"/>
                  </a:ext>
                </a:extLst>
              </a:tr>
              <a:tr h="337256">
                <a:tc>
                  <a:txBody>
                    <a:bodyPr/>
                    <a:lstStyle/>
                    <a:p>
                      <a:r>
                        <a:rPr lang="en-IN" dirty="0" smtClean="0"/>
                        <a:t>Random Forest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73.75</a:t>
                      </a:r>
                      <a:r>
                        <a:rPr lang="en-US" b="0" i="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73.11 %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565460"/>
                  </a:ext>
                </a:extLst>
              </a:tr>
              <a:tr h="337256">
                <a:tc>
                  <a:txBody>
                    <a:bodyPr/>
                    <a:lstStyle/>
                    <a:p>
                      <a:r>
                        <a:rPr lang="en-IN" dirty="0" err="1" smtClean="0"/>
                        <a:t>XGBoost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74.58</a:t>
                      </a:r>
                      <a:r>
                        <a:rPr lang="en-US" b="0" i="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%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75.38</a:t>
                      </a:r>
                      <a:r>
                        <a:rPr lang="en-US" baseline="0" dirty="0" smtClean="0"/>
                        <a:t> 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3514897"/>
                  </a:ext>
                </a:extLst>
              </a:tr>
              <a:tr h="337256">
                <a:tc>
                  <a:txBody>
                    <a:bodyPr/>
                    <a:lstStyle/>
                    <a:p>
                      <a:r>
                        <a:rPr lang="en-IN" dirty="0" err="1" smtClean="0"/>
                        <a:t>LightGBM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75.69 %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76.85 %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021222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217390"/>
            <a:ext cx="3482324" cy="253796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010" y="229951"/>
            <a:ext cx="3320533" cy="289424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0" y="5027735"/>
            <a:ext cx="4572478" cy="186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095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5972" y="381000"/>
            <a:ext cx="11813627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 err="1" smtClean="0"/>
              <a:t>Hyperparameter</a:t>
            </a:r>
            <a:r>
              <a:rPr lang="en-IN" b="1" dirty="0" smtClean="0"/>
              <a:t> Tuning:-</a:t>
            </a:r>
          </a:p>
          <a:p>
            <a:endParaRPr lang="en-IN" b="1" dirty="0" smtClean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600" b="1" dirty="0" smtClean="0"/>
              <a:t>Why </a:t>
            </a:r>
            <a:r>
              <a:rPr lang="en-IN" sz="1600" b="1" dirty="0" err="1" smtClean="0"/>
              <a:t>Hyperparameter</a:t>
            </a:r>
            <a:r>
              <a:rPr lang="en-IN" sz="1600" b="1" dirty="0" smtClean="0"/>
              <a:t> Tuning?</a:t>
            </a:r>
            <a:endParaRPr lang="en-US" sz="16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Optimizes model performance by finding the best combination of </a:t>
            </a:r>
            <a:r>
              <a:rPr lang="en-US" sz="1600" dirty="0" err="1" smtClean="0"/>
              <a:t>hyperparameters</a:t>
            </a:r>
            <a:r>
              <a:rPr lang="en-US" sz="1600" dirty="0" smtClean="0"/>
              <a:t>. Prevents overfitting.</a:t>
            </a:r>
            <a:endParaRPr lang="en-US" sz="16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used Technique </a:t>
            </a:r>
            <a:r>
              <a:rPr lang="en-IN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RandomizedSearchCV</a:t>
            </a:r>
            <a:r>
              <a:rPr lang="en-IN" b="1" dirty="0" smtClean="0"/>
              <a:t> </a:t>
            </a:r>
            <a:r>
              <a:rPr lang="en-IN" dirty="0" smtClean="0"/>
              <a:t>,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selects random combinations of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It is More efficient than </a:t>
            </a:r>
            <a:r>
              <a:rPr lang="en-US" b="1" dirty="0" err="1" smtClean="0"/>
              <a:t>GridSearchCV</a:t>
            </a:r>
            <a:r>
              <a:rPr lang="en-US" b="1" dirty="0" smtClean="0"/>
              <a:t>  </a:t>
            </a:r>
            <a:r>
              <a:rPr lang="en-US" dirty="0" smtClean="0"/>
              <a:t>for large datasets.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Reduces computational cost while still finding optimal parameters</a:t>
            </a:r>
          </a:p>
          <a:p>
            <a:endParaRPr lang="en-IN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 smtClean="0"/>
              <a:t>Explanation of Each </a:t>
            </a:r>
            <a:r>
              <a:rPr lang="en-IN" dirty="0" err="1" smtClean="0"/>
              <a:t>Hyperparameter</a:t>
            </a:r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b="1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Best </a:t>
            </a:r>
            <a:r>
              <a:rPr lang="en-US" b="1" dirty="0" err="1" smtClean="0"/>
              <a:t>Hyperparameters</a:t>
            </a:r>
            <a:r>
              <a:rPr lang="en-US" b="1" dirty="0" smtClean="0"/>
              <a:t> :-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b="1" dirty="0"/>
          </a:p>
          <a:p>
            <a:endParaRPr lang="en-US" b="1" dirty="0" smtClean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246891"/>
              </p:ext>
            </p:extLst>
          </p:nvPr>
        </p:nvGraphicFramePr>
        <p:xfrm>
          <a:off x="225972" y="2971800"/>
          <a:ext cx="11506201" cy="22859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1639823132"/>
                    </a:ext>
                  </a:extLst>
                </a:gridCol>
                <a:gridCol w="9525001">
                  <a:extLst>
                    <a:ext uri="{9D8B030D-6E8A-4147-A177-3AD203B41FA5}">
                      <a16:colId xmlns:a16="http://schemas.microsoft.com/office/drawing/2014/main" val="788862747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Hyperparameter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0878434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n_estimators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number of boosting iterations (trees). More trees can improve accuracy but increase computation time.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4915473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max_depth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maximum depth of each tree. Controls model complexity and helps prevent overfitting.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156833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learning_rate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Determines how much each tree contributes to the final prediction. 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1361034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num_leaves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number of leaves in </a:t>
                      </a: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 </a:t>
                      </a:r>
                      <a:r>
                        <a:rPr lang="en-IN" sz="140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tree.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9554314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subsample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Fraction of data to be randomly sampled for training each tree. Prevents overfitting.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6073592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colsample_bytree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Fraction of features (columns) to be randomly selected for training each tree</a:t>
                      </a:r>
                      <a:r>
                        <a:rPr lang="en-I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92388415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4" y="5715000"/>
            <a:ext cx="11704350" cy="363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44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50" y="588644"/>
            <a:ext cx="5200650" cy="53219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dirty="0"/>
              <a:t>Feature Importance Analysis</a:t>
            </a:r>
            <a:endParaRPr spc="-1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20841"/>
            <a:ext cx="10629900" cy="49667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588645"/>
            <a:ext cx="3676650" cy="36933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on Test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066800"/>
            <a:ext cx="11811000" cy="5816977"/>
          </a:xfrm>
        </p:spPr>
        <p:txBody>
          <a:bodyPr/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Load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Trained Model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best-tuned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final predictions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Pie-Chart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change predictions (0 vs. 1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1676400"/>
            <a:ext cx="4201644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716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600" y="609600"/>
            <a:ext cx="11887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 smtClean="0"/>
              <a:t>Model Deployment Considerations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 dirty="0"/>
          </a:p>
          <a:p>
            <a:endParaRPr lang="en-US" b="1" dirty="0" smtClean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 dirty="0" smtClean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 dirty="0" smtClean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 dirty="0" smtClean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 dirty="0" smtClean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b="1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900866"/>
              </p:ext>
            </p:extLst>
          </p:nvPr>
        </p:nvGraphicFramePr>
        <p:xfrm>
          <a:off x="284538" y="1023635"/>
          <a:ext cx="6590095" cy="25882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77311">
                  <a:extLst>
                    <a:ext uri="{9D8B030D-6E8A-4147-A177-3AD203B41FA5}">
                      <a16:colId xmlns:a16="http://schemas.microsoft.com/office/drawing/2014/main" val="1974338649"/>
                    </a:ext>
                  </a:extLst>
                </a:gridCol>
                <a:gridCol w="4512784">
                  <a:extLst>
                    <a:ext uri="{9D8B030D-6E8A-4147-A177-3AD203B41FA5}">
                      <a16:colId xmlns:a16="http://schemas.microsoft.com/office/drawing/2014/main" val="977261849"/>
                    </a:ext>
                  </a:extLst>
                </a:gridCol>
              </a:tblGrid>
              <a:tr h="26696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53382910"/>
                  </a:ext>
                </a:extLst>
              </a:tr>
              <a:tr h="5176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Why Deployment?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After training and tuning, the model needs to be deployed to make real-world predictions.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41485150"/>
                  </a:ext>
                </a:extLst>
              </a:tr>
              <a:tr h="5176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Saving the Model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trained </a:t>
                      </a: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LightGBM</a:t>
                      </a: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model is saved using </a:t>
                      </a: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joblib</a:t>
                      </a: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easy loading and inference.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59303017"/>
                  </a:ext>
                </a:extLst>
              </a:tr>
              <a:tr h="5176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Why Use </a:t>
                      </a: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joblib</a:t>
                      </a: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Efficient for large models - Faster than pickle - Reduces loading time in production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11747197"/>
                  </a:ext>
                </a:extLst>
              </a:tr>
              <a:tr h="76833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How the Model Will Be Used?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Integrated into a </a:t>
                      </a: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Streamlit</a:t>
                      </a: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web app for user-friendly interaction. - HR teams can input employee details to predict job change likelihood.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26865390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2790" y="609600"/>
            <a:ext cx="4576820" cy="371530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3810000"/>
            <a:ext cx="4210187" cy="299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043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20981"/>
            <a:ext cx="6877050" cy="492443"/>
          </a:xfrm>
        </p:spPr>
        <p:txBody>
          <a:bodyPr/>
          <a:lstStyle/>
          <a:p>
            <a:pPr algn="ctr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80" y="688024"/>
            <a:ext cx="12120880" cy="599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348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9450" y="6227946"/>
            <a:ext cx="7187565" cy="33718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ts val="1280"/>
              </a:lnSpc>
              <a:spcBef>
                <a:spcPts val="50"/>
              </a:spcBef>
            </a:pPr>
            <a:r>
              <a:rPr sz="1100" b="1" spc="-10" dirty="0">
                <a:solidFill>
                  <a:srgbClr val="AEABAB"/>
                </a:solidFill>
                <a:latin typeface="Calibri"/>
                <a:cs typeface="Calibri"/>
              </a:rPr>
              <a:t>CONFIDENTIAL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: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The</a:t>
            </a:r>
            <a:r>
              <a:rPr sz="1100" spc="3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information</a:t>
            </a:r>
            <a:r>
              <a:rPr sz="1100" spc="-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in this</a:t>
            </a:r>
            <a:r>
              <a:rPr sz="1100" spc="-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document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 belongs</a:t>
            </a:r>
            <a:r>
              <a:rPr sz="1100" spc="-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to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Boston Institute</a:t>
            </a:r>
            <a:r>
              <a:rPr sz="1100" spc="-5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of</a:t>
            </a:r>
            <a:r>
              <a:rPr sz="1100" spc="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Analytics</a:t>
            </a:r>
            <a:r>
              <a:rPr sz="1100" spc="-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LLC.</a:t>
            </a:r>
            <a:r>
              <a:rPr sz="1100" spc="1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Any 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unauthorized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 sharing</a:t>
            </a:r>
            <a:r>
              <a:rPr sz="1100" spc="-1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of</a:t>
            </a:r>
            <a:r>
              <a:rPr sz="1100" spc="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AEABAB"/>
                </a:solidFill>
                <a:latin typeface="Calibri"/>
                <a:cs typeface="Calibri"/>
              </a:rPr>
              <a:t>this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material</a:t>
            </a:r>
            <a:r>
              <a:rPr sz="1100" spc="1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is</a:t>
            </a:r>
            <a:r>
              <a:rPr sz="11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prohibited</a:t>
            </a:r>
            <a:r>
              <a:rPr sz="11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and</a:t>
            </a:r>
            <a:r>
              <a:rPr sz="1100" spc="-2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subject</a:t>
            </a:r>
            <a:r>
              <a:rPr sz="1100" spc="-3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to</a:t>
            </a:r>
            <a:r>
              <a:rPr sz="11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legal</a:t>
            </a:r>
            <a:r>
              <a:rPr sz="1100" spc="1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action</a:t>
            </a:r>
            <a:r>
              <a:rPr sz="11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under</a:t>
            </a:r>
            <a:r>
              <a:rPr sz="1100" spc="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breach</a:t>
            </a:r>
            <a:r>
              <a:rPr sz="1100" spc="-2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of IP</a:t>
            </a:r>
            <a:r>
              <a:rPr sz="1100" spc="-1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and</a:t>
            </a:r>
            <a:r>
              <a:rPr sz="1100" spc="-2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confidentiality</a:t>
            </a:r>
            <a:r>
              <a:rPr sz="1100" spc="-1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clauses.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57345" y="2405443"/>
            <a:ext cx="3881120" cy="1032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600" dirty="0">
                <a:solidFill>
                  <a:srgbClr val="FFFFFF"/>
                </a:solidFill>
              </a:rPr>
              <a:t>Thank</a:t>
            </a:r>
            <a:r>
              <a:rPr sz="6600" spc="-110" dirty="0">
                <a:solidFill>
                  <a:srgbClr val="FFFFFF"/>
                </a:solidFill>
              </a:rPr>
              <a:t> </a:t>
            </a:r>
            <a:r>
              <a:rPr sz="6600" spc="-470" dirty="0">
                <a:solidFill>
                  <a:srgbClr val="FFFFFF"/>
                </a:solidFill>
              </a:rPr>
              <a:t>Y</a:t>
            </a:r>
            <a:r>
              <a:rPr sz="6600" spc="15" dirty="0">
                <a:solidFill>
                  <a:srgbClr val="FFFFFF"/>
                </a:solidFill>
              </a:rPr>
              <a:t>o</a:t>
            </a:r>
            <a:r>
              <a:rPr sz="6600" spc="20" dirty="0">
                <a:solidFill>
                  <a:srgbClr val="FFFFFF"/>
                </a:solidFill>
              </a:rPr>
              <a:t>u</a:t>
            </a:r>
            <a:r>
              <a:rPr sz="6600" spc="40" dirty="0">
                <a:solidFill>
                  <a:srgbClr val="FFFFFF"/>
                </a:solidFill>
              </a:rPr>
              <a:t>!</a:t>
            </a:r>
            <a:endParaRPr sz="66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1070</TotalTime>
  <Words>1110</Words>
  <Application>Microsoft Office PowerPoint</Application>
  <PresentationFormat>Widescreen</PresentationFormat>
  <Paragraphs>267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Courier New</vt:lpstr>
      <vt:lpstr>Times New Roman</vt:lpstr>
      <vt:lpstr>Wingdings</vt:lpstr>
      <vt:lpstr>Office Theme</vt:lpstr>
      <vt:lpstr> Name of Capstone Project :-  EMPLOYEE RETENTION PREDICTION STUDENT NAME :- ANKIT AGRAWAL Batch: DSAI-1 September 2024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Feature Importance Analysis</vt:lpstr>
      <vt:lpstr>Prediction on Test Data</vt:lpstr>
      <vt:lpstr>PowerPoint Presentation</vt:lpstr>
      <vt:lpstr>POWER BI DASHBOARD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Capstone Project :-  EMPLOYEE RETENTION PREDICTION</dc:title>
  <dc:creator>ANKIT AGRAWAL</dc:creator>
  <cp:lastModifiedBy>ANKIT AGRAWAL</cp:lastModifiedBy>
  <cp:revision>76</cp:revision>
  <dcterms:created xsi:type="dcterms:W3CDTF">2025-02-19T08:09:15Z</dcterms:created>
  <dcterms:modified xsi:type="dcterms:W3CDTF">2025-03-08T07:32:52Z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2025-02-19T00:00:00Z</vt:filetime>
  </property>
  <property fmtid="{D5CDD505-2E9C-101B-9397-08002B2CF9AE}" pid="3" name="LastSaved">
    <vt:filetime>2025-02-19T00:00:00Z</vt:filetime>
  </property>
</Properties>
</file>